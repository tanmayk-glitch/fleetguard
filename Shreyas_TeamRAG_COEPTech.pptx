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0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/ REVIEW NOTES (not shown on slide)</a:t>
            </a:r>
          </a:p>
          <a:p>
            <a:r>
              <a:t>- Built so far (FD001): loading + checks, causal cleaning (EWMA alpha 0.3), 7 near-constant sensors dropped (std &lt;= 0.01 on train), z-score scaling fit on train only, rolling mean/std/slope windows 5/10/30 + baseline delta (first 10 cycles) = 154 features, RUL capped at 125.</a:t>
            </a:r>
          </a:p>
          <a:p>
            <a:r>
              <a:t>- Models: Ridge, RandomForest (n=100, depth 12, min leaf 5, max_features 0.7), LightGBM. 5-fold GroupKFold by engine, seed 42. Selected by pooled CV RMSE (RF 11.74, LightGBM 11.90, Ridge 15.61; CV uses capped true RUL).</a:t>
            </a:r>
          </a:p>
          <a:p>
            <a:r>
              <a:t>- Test (last cycle per engine, RAW true RUL from RUL_FD001.txt): RF RMSE 13.40, MAE 9.94, NASA 261.4. LightGBM 14.52 / 11.19 / 299.9. Ridge 16.18 / 13.04 / 390.2. Final models refit on all 100 train engines.</a:t>
            </a:r>
          </a:p>
          <a:p>
            <a:r>
              <a:t>- Top RF feature: sensor_11 baseline delta (51% importance), then sensor_4 baseline delta (14%).</a:t>
            </a:r>
          </a:p>
          <a:p>
            <a:r>
              <a:t>- Chart: engine 26, out-of-fold predictions. Severity thresholds (20/50/100) are illustrative and will be tuned. Alert markers: first 3 consecutive predicted values below the threshold (HIGH ~49 cycles left, CRITICAL ~20 cycles left).</a:t>
            </a:r>
          </a:p>
          <a:p>
            <a:r>
              <a:t>- Anomaly design: Isolation Forest fit on the healthy early-life window (no failure labels needed); binary 'fails within N cycles' flag with class weights for mild imbalance. Monitoring: Streamlit view of fleet RUL, work orders, MLflow model versions and drift. FD003/FD004 have two fault modes; FD002/FD004 have 6 operating regimes (per-regime normalization).</a:t>
            </a:r>
          </a:p>
          <a:p>
            <a:r>
              <a:t>- NOT built yet: anomaly model, triage agent, work orders, MLflow, drift/retrain, dashboard, FD002-FD004. The RUL lower bound (prediction minus k x tree spread) is a design choice to be implemented and calibrated.</a:t>
            </a:r>
          </a:p>
          <a:p>
            <a:r>
              <a:t>- Why late errors matter: NASA score penalizes predicting too much life more than too little, so the agent acts on a pessimistic bound.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930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28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510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1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880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431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744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1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28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866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354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58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634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808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583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971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827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187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313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2603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7620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454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B03228-4751-4F53-A7F7-9080AFB031F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572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30D68-FF19-4C40-B203-FF6228C5C20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006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9E0110-3D53-56A3-B428-F22C9DFF8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C273218-B2DB-AB44-5DFE-A9CB98F2A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0"/>
            <a:ext cx="12191980" cy="6856718"/>
          </a:xfrm>
          <a:prstGeom prst="rect">
            <a:avLst/>
          </a:prstGeom>
        </p:spPr>
      </p:pic>
      <p:pic>
        <p:nvPicPr>
          <p:cNvPr id="14" name="Content Placeholder 6">
            <a:extLst>
              <a:ext uri="{FF2B5EF4-FFF2-40B4-BE49-F238E27FC236}">
                <a16:creationId xmlns:a16="http://schemas.microsoft.com/office/drawing/2014/main" id="{DAC1E459-A0ED-D730-5E34-2662D85A74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46" b="34336"/>
          <a:stretch>
            <a:fillRect/>
          </a:stretch>
        </p:blipFill>
        <p:spPr>
          <a:xfrm>
            <a:off x="4504438" y="723899"/>
            <a:ext cx="3183124" cy="1028701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51E1DA9C-07E8-A7EE-F0F0-74A842D8366D}"/>
              </a:ext>
            </a:extLst>
          </p:cNvPr>
          <p:cNvSpPr txBox="1">
            <a:spLocks/>
          </p:cNvSpPr>
          <p:nvPr/>
        </p:nvSpPr>
        <p:spPr>
          <a:xfrm>
            <a:off x="4623106" y="1917655"/>
            <a:ext cx="2945788" cy="6060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Study No. 1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47F9FFC-5CA4-1C83-5E38-8DBBC6652E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0112" y="2912065"/>
            <a:ext cx="6231775" cy="760059"/>
          </a:xfrm>
        </p:spPr>
        <p:txBody>
          <a:bodyPr>
            <a:noAutofit/>
          </a:bodyPr>
          <a:lstStyle/>
          <a:p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 Details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BC4B1A3C-0B9F-3BDB-8C06-470AADE518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1627" y="3652835"/>
            <a:ext cx="6231775" cy="1128427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Team RAG</a:t>
            </a:r>
          </a:p>
          <a:p>
            <a:r>
              <a:rPr lang="en-US" dirty="0"/>
              <a:t>Member 1: Shreyas Joshi</a:t>
            </a:r>
          </a:p>
          <a:p>
            <a:r>
              <a:rPr lang="en-US" dirty="0"/>
              <a:t>Member 2: Parth </a:t>
            </a:r>
            <a:r>
              <a:rPr lang="en-US" dirty="0" err="1"/>
              <a:t>Malangave</a:t>
            </a:r>
            <a:endParaRPr lang="en-US" dirty="0"/>
          </a:p>
          <a:p>
            <a:r>
              <a:rPr lang="en-US" dirty="0"/>
              <a:t>Member 3: Tanmay </a:t>
            </a:r>
            <a:r>
              <a:rPr lang="en-US" dirty="0" err="1"/>
              <a:t>Kangule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182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od-banner">
            <a:extLst>
              <a:ext uri="{FF2B5EF4-FFF2-40B4-BE49-F238E27FC236}">
                <a16:creationId xmlns:a16="http://schemas.microsoft.com/office/drawing/2014/main" id="{F4826D9E-742D-0A39-8864-4C7889B0D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1341" y="89039"/>
            <a:ext cx="803547" cy="567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7886EE-DB1A-217A-4691-1FAE55869F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46" b="34336"/>
          <a:stretch>
            <a:fillRect/>
          </a:stretch>
        </p:blipFill>
        <p:spPr>
          <a:xfrm>
            <a:off x="0" y="14083"/>
            <a:ext cx="2361332" cy="763120"/>
          </a:xfrm>
          <a:prstGeom prst="rect">
            <a:avLst/>
          </a:prstGeom>
        </p:spPr>
      </p:pic>
      <p:sp>
        <p:nvSpPr>
          <p:cNvPr id="8" name="Title"/>
          <p:cNvSpPr txBox="1"/>
          <p:nvPr/>
        </p:nvSpPr>
        <p:spPr>
          <a:xfrm>
            <a:off x="2514600" y="914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FleetGuard: Self-Healing Fleet Maintenance</a:t>
            </a:r>
            <a:endParaRPr lang="en-US" sz="3000" dirty="0">
              <a:latin typeface="Calibri"/>
            </a:endParaRPr>
          </a:p>
        </p:txBody>
      </p:sp>
      <p:sp>
        <p:nvSpPr>
          <p:cNvPr id="9" name="Tagline"/>
          <p:cNvSpPr txBox="1"/>
          <p:nvPr/>
        </p:nvSpPr>
        <p:spPr>
          <a:xfrm>
            <a:off x="411480" y="85039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3A5F"/>
                </a:solidFill>
                <a:latin typeface="Calibri"/>
              </a:rPr>
              <a:t>Targets unplanned downtime: predict remaining life, auto-raise work orders, humans only for exceptions.</a:t>
            </a:r>
            <a:endParaRPr lang="en-US" sz="1400" dirty="0">
              <a:latin typeface="Calibri"/>
            </a:endParaRPr>
          </a:p>
        </p:txBody>
      </p:sp>
      <p:sp>
        <p:nvSpPr>
          <p:cNvPr id="10" name="TeamTag"/>
          <p:cNvSpPr txBox="1"/>
          <p:nvPr/>
        </p:nvSpPr>
        <p:spPr>
          <a:xfrm>
            <a:off x="8595360" y="731520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1F33"/>
                </a:solidFill>
                <a:latin typeface="Calibri"/>
              </a:rPr>
              <a:t>Team RAG</a:t>
            </a:r>
            <a:endParaRPr lang="en-US" sz="1500" dirty="0">
              <a:latin typeface="Calibri"/>
            </a:endParaRPr>
          </a:p>
          <a:p>
            <a:pPr algn="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/>
              </a:rPr>
              <a:t>Teliport Season 4  |  Case Study 1</a:t>
            </a:r>
            <a:endParaRPr lang="en-US" sz="1500" dirty="0">
              <a:latin typeface="Calibri"/>
            </a:endParaRPr>
          </a:p>
        </p:txBody>
      </p:sp>
      <p:sp>
        <p:nvSpPr>
          <p:cNvPr id="11" name="Chip0"/>
          <p:cNvSpPr/>
          <p:nvPr/>
        </p:nvSpPr>
        <p:spPr>
          <a:xfrm>
            <a:off x="411480" y="1298448"/>
            <a:ext cx="2148840" cy="658368"/>
          </a:xfrm>
          <a:prstGeom prst="roundRect">
            <a:avLst>
              <a:gd name="adj" fmla="val 1111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4"/>
          <p:cNvSpPr txBox="1"/>
          <p:nvPr/>
        </p:nvSpPr>
        <p:spPr>
          <a:xfrm>
            <a:off x="502920" y="1298448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13.4</a:t>
            </a:r>
            <a:endParaRPr lang="en-US" sz="1900" dirty="0">
              <a:latin typeface="Calibri"/>
            </a:endParaRPr>
          </a:p>
        </p:txBody>
      </p:sp>
      <p:sp>
        <p:nvSpPr>
          <p:cNvPr id="13" name="Text 5"/>
          <p:cNvSpPr txBox="1"/>
          <p:nvPr/>
        </p:nvSpPr>
        <p:spPr>
          <a:xfrm>
            <a:off x="1399032" y="1298448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3"/>
                </a:solidFill>
                <a:latin typeface="Calibri"/>
              </a:rPr>
              <a:t>RUL test RMSE, cycles (Ridge 16.2)</a:t>
            </a:r>
            <a:endParaRPr lang="en-US" sz="1050" dirty="0">
              <a:latin typeface="Calibri"/>
            </a:endParaRPr>
          </a:p>
        </p:txBody>
      </p:sp>
      <p:sp>
        <p:nvSpPr>
          <p:cNvPr id="14" name="Chip1"/>
          <p:cNvSpPr/>
          <p:nvPr/>
        </p:nvSpPr>
        <p:spPr>
          <a:xfrm>
            <a:off x="2715768" y="1298448"/>
            <a:ext cx="2148840" cy="658368"/>
          </a:xfrm>
          <a:prstGeom prst="roundRect">
            <a:avLst>
              <a:gd name="adj" fmla="val 1111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5" name="Text 7"/>
          <p:cNvSpPr txBox="1"/>
          <p:nvPr/>
        </p:nvSpPr>
        <p:spPr>
          <a:xfrm>
            <a:off x="2807208" y="1298448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261</a:t>
            </a:r>
            <a:endParaRPr lang="en-US" sz="2400" dirty="0">
              <a:latin typeface="Calibri"/>
            </a:endParaRPr>
          </a:p>
        </p:txBody>
      </p:sp>
      <p:sp>
        <p:nvSpPr>
          <p:cNvPr id="16" name="Text 8"/>
          <p:cNvSpPr txBox="1"/>
          <p:nvPr/>
        </p:nvSpPr>
        <p:spPr>
          <a:xfrm>
            <a:off x="3703320" y="1298448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3"/>
                </a:solidFill>
                <a:latin typeface="Calibri"/>
              </a:rPr>
              <a:t>NASA score, lower is better (Ridge 390)</a:t>
            </a:r>
            <a:endParaRPr lang="en-US" sz="1050" dirty="0">
              <a:latin typeface="Calibri"/>
            </a:endParaRPr>
          </a:p>
        </p:txBody>
      </p:sp>
      <p:sp>
        <p:nvSpPr>
          <p:cNvPr id="17" name="Chip2"/>
          <p:cNvSpPr/>
          <p:nvPr/>
        </p:nvSpPr>
        <p:spPr>
          <a:xfrm>
            <a:off x="5020056" y="1298448"/>
            <a:ext cx="2148840" cy="658368"/>
          </a:xfrm>
          <a:prstGeom prst="roundRect">
            <a:avLst>
              <a:gd name="adj" fmla="val 1111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Text 10"/>
          <p:cNvSpPr txBox="1"/>
          <p:nvPr/>
        </p:nvSpPr>
        <p:spPr>
          <a:xfrm>
            <a:off x="5111496" y="1298448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154</a:t>
            </a:r>
            <a:endParaRPr lang="en-US" sz="2400" dirty="0">
              <a:latin typeface="Calibri"/>
            </a:endParaRPr>
          </a:p>
        </p:txBody>
      </p:sp>
      <p:sp>
        <p:nvSpPr>
          <p:cNvPr id="19" name="Text 11"/>
          <p:cNvSpPr txBox="1"/>
          <p:nvPr/>
        </p:nvSpPr>
        <p:spPr>
          <a:xfrm>
            <a:off x="6007608" y="1298448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3"/>
                </a:solidFill>
                <a:latin typeface="Calibri"/>
              </a:rPr>
              <a:t>causal features from 14 of 21 sensors</a:t>
            </a:r>
            <a:endParaRPr lang="en-US" sz="1050" dirty="0">
              <a:latin typeface="Calibri"/>
            </a:endParaRPr>
          </a:p>
        </p:txBody>
      </p:sp>
      <p:sp>
        <p:nvSpPr>
          <p:cNvPr id="20" name="Chip3"/>
          <p:cNvSpPr/>
          <p:nvPr/>
        </p:nvSpPr>
        <p:spPr>
          <a:xfrm>
            <a:off x="7324344" y="1298448"/>
            <a:ext cx="2148840" cy="658368"/>
          </a:xfrm>
          <a:prstGeom prst="roundRect">
            <a:avLst>
              <a:gd name="adj" fmla="val 1111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Text 13"/>
          <p:cNvSpPr txBox="1"/>
          <p:nvPr/>
        </p:nvSpPr>
        <p:spPr>
          <a:xfrm>
            <a:off x="7415784" y="1298448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2400" dirty="0">
              <a:latin typeface="Calibri"/>
            </a:endParaRPr>
          </a:p>
        </p:txBody>
      </p:sp>
      <p:sp>
        <p:nvSpPr>
          <p:cNvPr id="22" name="Text 14"/>
          <p:cNvSpPr txBox="1"/>
          <p:nvPr/>
        </p:nvSpPr>
        <p:spPr>
          <a:xfrm>
            <a:off x="8311896" y="1298448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3"/>
                </a:solidFill>
                <a:latin typeface="Calibri"/>
              </a:rPr>
              <a:t>automated tests passing</a:t>
            </a:r>
            <a:endParaRPr lang="en-US" sz="1050" dirty="0">
              <a:latin typeface="Calibri"/>
            </a:endParaRPr>
          </a:p>
        </p:txBody>
      </p:sp>
      <p:sp>
        <p:nvSpPr>
          <p:cNvPr id="23" name="Chip4"/>
          <p:cNvSpPr/>
          <p:nvPr/>
        </p:nvSpPr>
        <p:spPr>
          <a:xfrm>
            <a:off x="9628632" y="1298448"/>
            <a:ext cx="2148840" cy="658368"/>
          </a:xfrm>
          <a:prstGeom prst="roundRect">
            <a:avLst>
              <a:gd name="adj" fmla="val 1111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9720072" y="1298448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FD001</a:t>
            </a:r>
            <a:endParaRPr lang="en-US" sz="1900" dirty="0">
              <a:latin typeface="Calibri"/>
            </a:endParaRPr>
          </a:p>
        </p:txBody>
      </p:sp>
      <p:sp>
        <p:nvSpPr>
          <p:cNvPr id="25" name="Text 17"/>
          <p:cNvSpPr txBox="1"/>
          <p:nvPr/>
        </p:nvSpPr>
        <p:spPr>
          <a:xfrm>
            <a:off x="10616184" y="1298448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3"/>
                </a:solidFill>
                <a:latin typeface="Calibri"/>
              </a:rPr>
              <a:t>prototype: data and model stages working</a:t>
            </a:r>
            <a:endParaRPr lang="en-US" sz="1050" dirty="0">
              <a:latin typeface="Calibri"/>
            </a:endParaRPr>
          </a:p>
        </p:txBody>
      </p:sp>
      <p:sp>
        <p:nvSpPr>
          <p:cNvPr id="26" name="Block0"/>
          <p:cNvSpPr/>
          <p:nvPr/>
        </p:nvSpPr>
        <p:spPr>
          <a:xfrm>
            <a:off x="411480" y="2121408"/>
            <a:ext cx="2103120" cy="128016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7" name="Num0"/>
          <p:cNvSpPr/>
          <p:nvPr/>
        </p:nvSpPr>
        <p:spPr>
          <a:xfrm>
            <a:off x="521208" y="2231136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521208" y="2231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1</a:t>
            </a:r>
            <a:endParaRPr lang="en-US" sz="1100" dirty="0">
              <a:latin typeface="Calibri"/>
            </a:endParaRPr>
          </a:p>
        </p:txBody>
      </p:sp>
      <p:sp>
        <p:nvSpPr>
          <p:cNvPr id="29" name="Text 21"/>
          <p:cNvSpPr txBox="1"/>
          <p:nvPr/>
        </p:nvSpPr>
        <p:spPr>
          <a:xfrm>
            <a:off x="868680" y="221284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3"/>
                </a:solidFill>
                <a:latin typeface="Calibri"/>
              </a:rPr>
              <a:t>DATA</a:t>
            </a:r>
            <a:endParaRPr lang="en-US" sz="1200" dirty="0">
              <a:latin typeface="Calibri"/>
            </a:endParaRPr>
          </a:p>
        </p:txBody>
      </p:sp>
      <p:sp>
        <p:nvSpPr>
          <p:cNvPr id="30" name="Text 22"/>
          <p:cNvSpPr txBox="1"/>
          <p:nvPr/>
        </p:nvSpPr>
        <p:spPr>
          <a:xfrm>
            <a:off x="521208" y="2578608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F33"/>
                </a:solidFill>
                <a:latin typeface="Calibri"/>
              </a:rPr>
              <a:t>NASA C-MAPSS turbofan fleet. FD001 now, FD002–FD004 next.</a:t>
            </a:r>
            <a:endParaRPr lang="en-US" sz="1100" dirty="0">
              <a:latin typeface="Calibri"/>
            </a:endParaRPr>
          </a:p>
        </p:txBody>
      </p:sp>
      <p:sp>
        <p:nvSpPr>
          <p:cNvPr id="31" name="Tag0"/>
          <p:cNvSpPr/>
          <p:nvPr/>
        </p:nvSpPr>
        <p:spPr>
          <a:xfrm>
            <a:off x="521208" y="3127248"/>
            <a:ext cx="640080" cy="201168"/>
          </a:xfrm>
          <a:prstGeom prst="roundRect">
            <a:avLst>
              <a:gd name="adj" fmla="val 22727"/>
            </a:avLst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521208" y="3127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BUILT</a:t>
            </a:r>
            <a:endParaRPr lang="en-US" sz="1000" dirty="0">
              <a:latin typeface="Calibri"/>
            </a:endParaRPr>
          </a:p>
        </p:txBody>
      </p:sp>
      <p:sp>
        <p:nvSpPr>
          <p:cNvPr id="33" name="Arrow0"/>
          <p:cNvSpPr/>
          <p:nvPr/>
        </p:nvSpPr>
        <p:spPr>
          <a:xfrm>
            <a:off x="2552319" y="2624328"/>
            <a:ext cx="137160" cy="274320"/>
          </a:xfrm>
          <a:prstGeom prst="chevron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4" name="Block1"/>
          <p:cNvSpPr/>
          <p:nvPr/>
        </p:nvSpPr>
        <p:spPr>
          <a:xfrm>
            <a:off x="2727198" y="2121408"/>
            <a:ext cx="2103120" cy="128016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5" name="Num1"/>
          <p:cNvSpPr/>
          <p:nvPr/>
        </p:nvSpPr>
        <p:spPr>
          <a:xfrm>
            <a:off x="2836926" y="2231136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2836926" y="2231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2</a:t>
            </a:r>
            <a:endParaRPr lang="en-US" sz="1100" dirty="0">
              <a:latin typeface="Calibri"/>
            </a:endParaRPr>
          </a:p>
        </p:txBody>
      </p:sp>
      <p:sp>
        <p:nvSpPr>
          <p:cNvPr id="37" name="Text 29"/>
          <p:cNvSpPr txBox="1"/>
          <p:nvPr/>
        </p:nvSpPr>
        <p:spPr>
          <a:xfrm>
            <a:off x="3184398" y="221284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3"/>
                </a:solidFill>
                <a:latin typeface="Calibri"/>
              </a:rPr>
              <a:t>CLEAN + FEATURES</a:t>
            </a:r>
            <a:endParaRPr lang="en-US" sz="1200" dirty="0">
              <a:latin typeface="Calibri"/>
            </a:endParaRPr>
          </a:p>
        </p:txBody>
      </p:sp>
      <p:sp>
        <p:nvSpPr>
          <p:cNvPr id="38" name="Text 30"/>
          <p:cNvSpPr txBox="1"/>
          <p:nvPr/>
        </p:nvSpPr>
        <p:spPr>
          <a:xfrm>
            <a:off x="2836926" y="2578608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F33"/>
                </a:solidFill>
                <a:latin typeface="Calibri"/>
              </a:rPr>
              <a:t>Fill gaps (past data only), smooth, drop 7 flat sensors, rolling stats + baseline delta.</a:t>
            </a:r>
            <a:endParaRPr lang="en-US" sz="1100" dirty="0">
              <a:latin typeface="Calibri"/>
            </a:endParaRPr>
          </a:p>
        </p:txBody>
      </p:sp>
      <p:sp>
        <p:nvSpPr>
          <p:cNvPr id="39" name="Tag1"/>
          <p:cNvSpPr/>
          <p:nvPr/>
        </p:nvSpPr>
        <p:spPr>
          <a:xfrm>
            <a:off x="2836926" y="3127248"/>
            <a:ext cx="640080" cy="201168"/>
          </a:xfrm>
          <a:prstGeom prst="roundRect">
            <a:avLst>
              <a:gd name="adj" fmla="val 22727"/>
            </a:avLst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2836926" y="3127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BUILT</a:t>
            </a:r>
            <a:endParaRPr lang="en-US" sz="1000" dirty="0">
              <a:latin typeface="Calibri"/>
            </a:endParaRPr>
          </a:p>
        </p:txBody>
      </p:sp>
      <p:sp>
        <p:nvSpPr>
          <p:cNvPr id="41" name="Arrow1"/>
          <p:cNvSpPr/>
          <p:nvPr/>
        </p:nvSpPr>
        <p:spPr>
          <a:xfrm>
            <a:off x="4868037" y="2624328"/>
            <a:ext cx="137160" cy="274320"/>
          </a:xfrm>
          <a:prstGeom prst="chevron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2" name="Block2"/>
          <p:cNvSpPr/>
          <p:nvPr/>
        </p:nvSpPr>
        <p:spPr>
          <a:xfrm>
            <a:off x="5042916" y="2121408"/>
            <a:ext cx="2103120" cy="128016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3" name="Num2"/>
          <p:cNvSpPr/>
          <p:nvPr/>
        </p:nvSpPr>
        <p:spPr>
          <a:xfrm>
            <a:off x="5152644" y="2231136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5152644" y="2231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3</a:t>
            </a:r>
            <a:endParaRPr lang="en-US" sz="1100" dirty="0">
              <a:latin typeface="Calibri"/>
            </a:endParaRPr>
          </a:p>
        </p:txBody>
      </p:sp>
      <p:sp>
        <p:nvSpPr>
          <p:cNvPr id="45" name="Text 37"/>
          <p:cNvSpPr txBox="1"/>
          <p:nvPr/>
        </p:nvSpPr>
        <p:spPr>
          <a:xfrm>
            <a:off x="5500116" y="221284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3"/>
                </a:solidFill>
                <a:latin typeface="Calibri"/>
              </a:rPr>
              <a:t>ANOMALY + RUL</a:t>
            </a:r>
            <a:endParaRPr lang="en-US" sz="1200" dirty="0">
              <a:latin typeface="Calibri"/>
            </a:endParaRPr>
          </a:p>
        </p:txBody>
      </p:sp>
      <p:sp>
        <p:nvSpPr>
          <p:cNvPr id="46" name="Text 38"/>
          <p:cNvSpPr txBox="1"/>
          <p:nvPr/>
        </p:nvSpPr>
        <p:spPr>
          <a:xfrm>
            <a:off x="5152644" y="2578608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F33"/>
                </a:solidFill>
                <a:latin typeface="Calibri"/>
              </a:rPr>
              <a:t>RUL: Random Forest. Anomaly: Isolation Forest, no labels. Class weights for imbalance.</a:t>
            </a:r>
            <a:endParaRPr lang="en-US" sz="1100" dirty="0">
              <a:latin typeface="Calibri"/>
            </a:endParaRPr>
          </a:p>
        </p:txBody>
      </p:sp>
      <p:sp>
        <p:nvSpPr>
          <p:cNvPr id="47" name="Tag2"/>
          <p:cNvSpPr/>
          <p:nvPr/>
        </p:nvSpPr>
        <p:spPr>
          <a:xfrm>
            <a:off x="5152644" y="3127248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48" name="Text 40"/>
          <p:cNvSpPr txBox="1"/>
          <p:nvPr/>
        </p:nvSpPr>
        <p:spPr>
          <a:xfrm>
            <a:off x="5152644" y="31272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RUL BUILT</a:t>
            </a:r>
            <a:endParaRPr lang="en-US" sz="1000" dirty="0">
              <a:latin typeface="Calibri"/>
            </a:endParaRPr>
          </a:p>
        </p:txBody>
      </p:sp>
      <p:sp>
        <p:nvSpPr>
          <p:cNvPr id="49" name="Arrow2"/>
          <p:cNvSpPr/>
          <p:nvPr/>
        </p:nvSpPr>
        <p:spPr>
          <a:xfrm>
            <a:off x="7183755" y="2624328"/>
            <a:ext cx="137160" cy="274320"/>
          </a:xfrm>
          <a:prstGeom prst="chevron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0" name="Block3"/>
          <p:cNvSpPr/>
          <p:nvPr/>
        </p:nvSpPr>
        <p:spPr>
          <a:xfrm>
            <a:off x="7358634" y="2121408"/>
            <a:ext cx="2103120" cy="128016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1" name="Num3"/>
          <p:cNvSpPr/>
          <p:nvPr/>
        </p:nvSpPr>
        <p:spPr>
          <a:xfrm>
            <a:off x="7468362" y="2231136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2" name="Text 44"/>
          <p:cNvSpPr txBox="1"/>
          <p:nvPr/>
        </p:nvSpPr>
        <p:spPr>
          <a:xfrm>
            <a:off x="7468362" y="2231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4</a:t>
            </a:r>
            <a:endParaRPr lang="en-US" sz="1100" dirty="0">
              <a:latin typeface="Calibri"/>
            </a:endParaRPr>
          </a:p>
        </p:txBody>
      </p:sp>
      <p:sp>
        <p:nvSpPr>
          <p:cNvPr id="53" name="Text 45"/>
          <p:cNvSpPr txBox="1"/>
          <p:nvPr/>
        </p:nvSpPr>
        <p:spPr>
          <a:xfrm>
            <a:off x="7815834" y="221284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3"/>
                </a:solidFill>
                <a:latin typeface="Calibri"/>
              </a:rPr>
              <a:t>TRIAGE AGENT</a:t>
            </a:r>
            <a:endParaRPr lang="en-US" sz="1200" dirty="0">
              <a:latin typeface="Calibri"/>
            </a:endParaRPr>
          </a:p>
        </p:txBody>
      </p:sp>
      <p:sp>
        <p:nvSpPr>
          <p:cNvPr id="54" name="Text 46"/>
          <p:cNvSpPr txBox="1"/>
          <p:nvPr/>
        </p:nvSpPr>
        <p:spPr>
          <a:xfrm>
            <a:off x="7468362" y="2578608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F33"/>
                </a:solidFill>
                <a:latin typeface="Calibri"/>
              </a:rPr>
              <a:t>Rule-based severity from RUL lower bound, plus confidence gate. No LLM.</a:t>
            </a:r>
            <a:endParaRPr lang="en-US" sz="1100" dirty="0">
              <a:latin typeface="Calibri"/>
            </a:endParaRPr>
          </a:p>
        </p:txBody>
      </p:sp>
      <p:sp>
        <p:nvSpPr>
          <p:cNvPr id="55" name="Tag3"/>
          <p:cNvSpPr/>
          <p:nvPr/>
        </p:nvSpPr>
        <p:spPr>
          <a:xfrm>
            <a:off x="7468362" y="3127248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5B6B7F"/>
            </a:solidFill>
            <a:prstDash val="solid"/>
          </a:ln>
        </p:spPr>
      </p:sp>
      <p:sp>
        <p:nvSpPr>
          <p:cNvPr id="56" name="Text 48"/>
          <p:cNvSpPr txBox="1"/>
          <p:nvPr/>
        </p:nvSpPr>
        <p:spPr>
          <a:xfrm>
            <a:off x="7468362" y="31272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7F"/>
                </a:solidFill>
                <a:latin typeface="Calibri"/>
              </a:rPr>
              <a:t>PLANNED</a:t>
            </a:r>
            <a:endParaRPr lang="en-US" sz="1000" dirty="0">
              <a:latin typeface="Calibri"/>
            </a:endParaRPr>
          </a:p>
        </p:txBody>
      </p:sp>
      <p:sp>
        <p:nvSpPr>
          <p:cNvPr id="57" name="Arrow3"/>
          <p:cNvSpPr/>
          <p:nvPr/>
        </p:nvSpPr>
        <p:spPr>
          <a:xfrm>
            <a:off x="9499473" y="2624328"/>
            <a:ext cx="137160" cy="274320"/>
          </a:xfrm>
          <a:prstGeom prst="chevron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8" name="Block4"/>
          <p:cNvSpPr/>
          <p:nvPr/>
        </p:nvSpPr>
        <p:spPr>
          <a:xfrm>
            <a:off x="9674352" y="2121408"/>
            <a:ext cx="2103120" cy="128016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9" name="Num4"/>
          <p:cNvSpPr/>
          <p:nvPr/>
        </p:nvSpPr>
        <p:spPr>
          <a:xfrm>
            <a:off x="9784080" y="2231136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0" name="Text 52"/>
          <p:cNvSpPr txBox="1"/>
          <p:nvPr/>
        </p:nvSpPr>
        <p:spPr>
          <a:xfrm>
            <a:off x="9784080" y="2231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5</a:t>
            </a:r>
            <a:endParaRPr lang="en-US" sz="1100" dirty="0">
              <a:latin typeface="Calibri"/>
            </a:endParaRPr>
          </a:p>
        </p:txBody>
      </p:sp>
      <p:sp>
        <p:nvSpPr>
          <p:cNvPr id="61" name="Text 53"/>
          <p:cNvSpPr txBox="1"/>
          <p:nvPr/>
        </p:nvSpPr>
        <p:spPr>
          <a:xfrm>
            <a:off x="10131552" y="221284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3"/>
                </a:solidFill>
                <a:latin typeface="Calibri"/>
              </a:rPr>
              <a:t>WORK ORDER</a:t>
            </a:r>
            <a:endParaRPr lang="en-US" sz="1200" dirty="0">
              <a:latin typeface="Calibri"/>
            </a:endParaRPr>
          </a:p>
        </p:txBody>
      </p:sp>
      <p:sp>
        <p:nvSpPr>
          <p:cNvPr id="62" name="Text 54"/>
          <p:cNvSpPr txBox="1"/>
          <p:nvPr/>
        </p:nvSpPr>
        <p:spPr>
          <a:xfrm>
            <a:off x="9784080" y="2578608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F33"/>
                </a:solidFill>
                <a:latin typeface="Calibri"/>
              </a:rPr>
              <a:t>Auto-created, de-duplicated, escalate-only. JSON + SQLite log.</a:t>
            </a:r>
            <a:endParaRPr lang="en-US" sz="1100" dirty="0">
              <a:latin typeface="Calibri"/>
            </a:endParaRPr>
          </a:p>
        </p:txBody>
      </p:sp>
      <p:sp>
        <p:nvSpPr>
          <p:cNvPr id="63" name="Tag4"/>
          <p:cNvSpPr/>
          <p:nvPr/>
        </p:nvSpPr>
        <p:spPr>
          <a:xfrm>
            <a:off x="9784080" y="3127248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5B6B7F"/>
            </a:solidFill>
            <a:prstDash val="solid"/>
          </a:ln>
        </p:spPr>
      </p:sp>
      <p:sp>
        <p:nvSpPr>
          <p:cNvPr id="64" name="Text 56"/>
          <p:cNvSpPr txBox="1"/>
          <p:nvPr/>
        </p:nvSpPr>
        <p:spPr>
          <a:xfrm>
            <a:off x="9784080" y="31272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7F"/>
                </a:solidFill>
                <a:latin typeface="Calibri"/>
              </a:rPr>
              <a:t>PLANNED</a:t>
            </a:r>
            <a:endParaRPr lang="en-US" sz="1000" dirty="0">
              <a:latin typeface="Calibri"/>
            </a:endParaRPr>
          </a:p>
        </p:txBody>
      </p:sp>
      <p:pic>
        <p:nvPicPr>
          <p:cNvPr id="65" name="RULChart" descr="Engine 26 true versus predicted remaining useful life with severity zon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584448"/>
            <a:ext cx="4846320" cy="2423160"/>
          </a:xfrm>
          <a:prstGeom prst="rect">
            <a:avLst/>
          </a:prstGeom>
        </p:spPr>
      </p:pic>
      <p:sp>
        <p:nvSpPr>
          <p:cNvPr id="66" name="ChartCaption"/>
          <p:cNvSpPr txBox="1"/>
          <p:nvPr/>
        </p:nvSpPr>
        <p:spPr>
          <a:xfrm>
            <a:off x="411480" y="6035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/>
              </a:rPr>
              <a:t>Engine 26, out-of-fold prediction vs true RUL. Zones and alert points are illustrative (point prediction; the agent will add a lower bound).</a:t>
            </a:r>
            <a:endParaRPr lang="en-US" sz="1050" dirty="0">
              <a:latin typeface="Calibri"/>
            </a:endParaRPr>
          </a:p>
        </p:txBody>
      </p:sp>
      <p:sp>
        <p:nvSpPr>
          <p:cNvPr id="67" name="AgentCard"/>
          <p:cNvSpPr/>
          <p:nvPr/>
        </p:nvSpPr>
        <p:spPr>
          <a:xfrm>
            <a:off x="5440680" y="3584448"/>
            <a:ext cx="3383280" cy="2816352"/>
          </a:xfrm>
          <a:prstGeom prst="roundRect">
            <a:avLst>
              <a:gd name="adj" fmla="val 259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8" name="Text 59"/>
          <p:cNvSpPr txBox="1"/>
          <p:nvPr/>
        </p:nvSpPr>
        <p:spPr>
          <a:xfrm>
            <a:off x="5577840" y="36576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3"/>
                </a:solidFill>
                <a:latin typeface="Calibri"/>
              </a:rPr>
              <a:t>Triage agent: plain-Python rules</a:t>
            </a:r>
            <a:endParaRPr lang="en-US" sz="1200" dirty="0">
              <a:latin typeface="Calibri"/>
            </a:endParaRPr>
          </a:p>
        </p:txBody>
      </p:sp>
      <p:sp>
        <p:nvSpPr>
          <p:cNvPr id="69" name="AgentInputs"/>
          <p:cNvSpPr/>
          <p:nvPr/>
        </p:nvSpPr>
        <p:spPr>
          <a:xfrm>
            <a:off x="5577840" y="4005072"/>
            <a:ext cx="31089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5B6B7F"/>
            </a:solidFill>
            <a:prstDash val="solid"/>
          </a:ln>
        </p:spPr>
      </p:sp>
      <p:sp>
        <p:nvSpPr>
          <p:cNvPr id="70" name="Text 61"/>
          <p:cNvSpPr txBox="1"/>
          <p:nvPr/>
        </p:nvSpPr>
        <p:spPr>
          <a:xfrm>
            <a:off x="5641848" y="4005072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F33"/>
                </a:solidFill>
                <a:latin typeface="Calibri"/>
              </a:rPr>
              <a:t>Per engine: RUL lower bound, anomaly score, RUL trend, confidence</a:t>
            </a:r>
            <a:endParaRPr lang="en-US" sz="1050" dirty="0">
              <a:latin typeface="Calibri"/>
            </a:endParaRPr>
          </a:p>
        </p:txBody>
      </p:sp>
      <p:sp>
        <p:nvSpPr>
          <p:cNvPr id="71" name="Shape 62"/>
          <p:cNvSpPr/>
          <p:nvPr/>
        </p:nvSpPr>
        <p:spPr>
          <a:xfrm>
            <a:off x="7132320" y="4498848"/>
            <a:ext cx="0" cy="146304"/>
          </a:xfrm>
          <a:prstGeom prst="line">
            <a:avLst/>
          </a:prstGeom>
          <a:noFill/>
          <a:ln w="1587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72" name="Text 63"/>
          <p:cNvSpPr txBox="1"/>
          <p:nvPr/>
        </p:nvSpPr>
        <p:spPr>
          <a:xfrm>
            <a:off x="5577840" y="46634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F"/>
                </a:solidFill>
                <a:latin typeface="Calibri"/>
              </a:rPr>
              <a:t>Severity (cycles of life left)</a:t>
            </a:r>
            <a:endParaRPr lang="en-US" sz="1050" dirty="0">
              <a:latin typeface="Calibri"/>
            </a:endParaRPr>
          </a:p>
        </p:txBody>
      </p:sp>
      <p:sp>
        <p:nvSpPr>
          <p:cNvPr id="73" name="Sev0"/>
          <p:cNvSpPr/>
          <p:nvPr/>
        </p:nvSpPr>
        <p:spPr>
          <a:xfrm>
            <a:off x="5577840" y="4901184"/>
            <a:ext cx="1508760" cy="265176"/>
          </a:xfrm>
          <a:prstGeom prst="roundRect">
            <a:avLst>
              <a:gd name="adj" fmla="val 17241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4" name="Text 65"/>
          <p:cNvSpPr txBox="1"/>
          <p:nvPr/>
        </p:nvSpPr>
        <p:spPr>
          <a:xfrm>
            <a:off x="5577840" y="4901184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CRITICAL ≤ 20</a:t>
            </a:r>
            <a:endParaRPr lang="en-US" sz="1050" dirty="0">
              <a:latin typeface="Calibri"/>
            </a:endParaRPr>
          </a:p>
        </p:txBody>
      </p:sp>
      <p:sp>
        <p:nvSpPr>
          <p:cNvPr id="75" name="Sev1"/>
          <p:cNvSpPr/>
          <p:nvPr/>
        </p:nvSpPr>
        <p:spPr>
          <a:xfrm>
            <a:off x="7178040" y="4901184"/>
            <a:ext cx="1508760" cy="265176"/>
          </a:xfrm>
          <a:prstGeom prst="roundRect">
            <a:avLst>
              <a:gd name="adj" fmla="val 17241"/>
            </a:avLst>
          </a:prstGeom>
          <a:solidFill>
            <a:srgbClr val="E8710A"/>
          </a:solidFill>
          <a:ln w="12700">
            <a:solidFill>
              <a:srgbClr val="E8710A"/>
            </a:solidFill>
            <a:prstDash val="solid"/>
          </a:ln>
        </p:spPr>
      </p:sp>
      <p:sp>
        <p:nvSpPr>
          <p:cNvPr id="76" name="Text 67"/>
          <p:cNvSpPr txBox="1"/>
          <p:nvPr/>
        </p:nvSpPr>
        <p:spPr>
          <a:xfrm>
            <a:off x="7178040" y="4901184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HIGH ≤ 50</a:t>
            </a:r>
            <a:endParaRPr lang="en-US" sz="1050" dirty="0">
              <a:latin typeface="Calibri"/>
            </a:endParaRPr>
          </a:p>
        </p:txBody>
      </p:sp>
      <p:sp>
        <p:nvSpPr>
          <p:cNvPr id="77" name="Sev2"/>
          <p:cNvSpPr/>
          <p:nvPr/>
        </p:nvSpPr>
        <p:spPr>
          <a:xfrm>
            <a:off x="5577840" y="5221224"/>
            <a:ext cx="1508760" cy="265176"/>
          </a:xfrm>
          <a:prstGeom prst="roundRect">
            <a:avLst>
              <a:gd name="adj" fmla="val 17241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8" name="Text 69"/>
          <p:cNvSpPr txBox="1"/>
          <p:nvPr/>
        </p:nvSpPr>
        <p:spPr>
          <a:xfrm>
            <a:off x="5577840" y="5221224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F33"/>
                </a:solidFill>
                <a:latin typeface="Calibri"/>
              </a:rPr>
              <a:t>MEDIUM ≤ 100</a:t>
            </a:r>
            <a:endParaRPr lang="en-US" sz="1050" dirty="0">
              <a:latin typeface="Calibri"/>
            </a:endParaRPr>
          </a:p>
        </p:txBody>
      </p:sp>
      <p:sp>
        <p:nvSpPr>
          <p:cNvPr id="79" name="Sev3"/>
          <p:cNvSpPr/>
          <p:nvPr/>
        </p:nvSpPr>
        <p:spPr>
          <a:xfrm>
            <a:off x="7178040" y="5221224"/>
            <a:ext cx="1508760" cy="265176"/>
          </a:xfrm>
          <a:prstGeom prst="roundRect">
            <a:avLst>
              <a:gd name="adj" fmla="val 17241"/>
            </a:avLst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80" name="Text 71"/>
          <p:cNvSpPr txBox="1"/>
          <p:nvPr/>
        </p:nvSpPr>
        <p:spPr>
          <a:xfrm>
            <a:off x="7178040" y="5221224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NORMAL &gt; 100</a:t>
            </a:r>
            <a:endParaRPr lang="en-US" sz="1050" dirty="0">
              <a:latin typeface="Calibri"/>
            </a:endParaRPr>
          </a:p>
        </p:txBody>
      </p:sp>
      <p:sp>
        <p:nvSpPr>
          <p:cNvPr id="81" name="Shape 72"/>
          <p:cNvSpPr/>
          <p:nvPr/>
        </p:nvSpPr>
        <p:spPr>
          <a:xfrm>
            <a:off x="7132320" y="5541264"/>
            <a:ext cx="0" cy="128016"/>
          </a:xfrm>
          <a:prstGeom prst="line">
            <a:avLst/>
          </a:prstGeom>
          <a:noFill/>
          <a:ln w="1587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82" name="ConfDiamond"/>
          <p:cNvSpPr/>
          <p:nvPr/>
        </p:nvSpPr>
        <p:spPr>
          <a:xfrm>
            <a:off x="5577840" y="5687568"/>
            <a:ext cx="1188720" cy="64008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83" name="Text 74"/>
          <p:cNvSpPr txBox="1"/>
          <p:nvPr/>
        </p:nvSpPr>
        <p:spPr>
          <a:xfrm>
            <a:off x="5577840" y="5687568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F33"/>
                </a:solidFill>
                <a:latin typeface="Calibri"/>
              </a:rPr>
              <a:t>Confident?</a:t>
            </a:r>
            <a:endParaRPr lang="en-US" sz="1050" dirty="0">
              <a:latin typeface="Calibri"/>
            </a:endParaRPr>
          </a:p>
        </p:txBody>
      </p:sp>
      <p:sp>
        <p:nvSpPr>
          <p:cNvPr id="84" name="Shape 75"/>
          <p:cNvSpPr/>
          <p:nvPr/>
        </p:nvSpPr>
        <p:spPr>
          <a:xfrm>
            <a:off x="6766560" y="5833872"/>
            <a:ext cx="274320" cy="0"/>
          </a:xfrm>
          <a:prstGeom prst="line">
            <a:avLst/>
          </a:prstGeom>
          <a:noFill/>
          <a:ln w="1587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85" name="Shape 76"/>
          <p:cNvSpPr/>
          <p:nvPr/>
        </p:nvSpPr>
        <p:spPr>
          <a:xfrm>
            <a:off x="6766560" y="6181344"/>
            <a:ext cx="274320" cy="0"/>
          </a:xfrm>
          <a:prstGeom prst="line">
            <a:avLst/>
          </a:prstGeom>
          <a:noFill/>
          <a:ln w="1587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86" name="YesBox"/>
          <p:cNvSpPr/>
          <p:nvPr/>
        </p:nvSpPr>
        <p:spPr>
          <a:xfrm>
            <a:off x="7068312" y="5687568"/>
            <a:ext cx="1618488" cy="292608"/>
          </a:xfrm>
          <a:prstGeom prst="roundRect">
            <a:avLst>
              <a:gd name="adj" fmla="val 15625"/>
            </a:avLst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87" name="Text 78"/>
          <p:cNvSpPr txBox="1"/>
          <p:nvPr/>
        </p:nvSpPr>
        <p:spPr>
          <a:xfrm>
            <a:off x="7068312" y="5687568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YES: auto work order</a:t>
            </a:r>
            <a:endParaRPr lang="en-US" sz="1050" dirty="0">
              <a:latin typeface="Calibri"/>
            </a:endParaRPr>
          </a:p>
        </p:txBody>
      </p:sp>
      <p:sp>
        <p:nvSpPr>
          <p:cNvPr id="88" name="NoBox"/>
          <p:cNvSpPr/>
          <p:nvPr/>
        </p:nvSpPr>
        <p:spPr>
          <a:xfrm>
            <a:off x="7068312" y="6035040"/>
            <a:ext cx="1618488" cy="292608"/>
          </a:xfrm>
          <a:prstGeom prst="roundRect">
            <a:avLst>
              <a:gd name="adj" fmla="val 15625"/>
            </a:avLst>
          </a:prstGeom>
          <a:solidFill>
            <a:srgbClr val="5B6B7F"/>
          </a:solidFill>
          <a:ln w="12700">
            <a:solidFill>
              <a:srgbClr val="5B6B7F"/>
            </a:solidFill>
            <a:prstDash val="solid"/>
          </a:ln>
        </p:spPr>
      </p:sp>
      <p:sp>
        <p:nvSpPr>
          <p:cNvPr id="89" name="Text 80"/>
          <p:cNvSpPr txBox="1"/>
          <p:nvPr/>
        </p:nvSpPr>
        <p:spPr>
          <a:xfrm>
            <a:off x="7068312" y="6035040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NO: human review</a:t>
            </a:r>
            <a:endParaRPr lang="en-US" sz="1050" dirty="0">
              <a:latin typeface="Calibri"/>
            </a:endParaRPr>
          </a:p>
        </p:txBody>
      </p:sp>
      <p:sp>
        <p:nvSpPr>
          <p:cNvPr id="90" name="Card0"/>
          <p:cNvSpPr/>
          <p:nvPr/>
        </p:nvSpPr>
        <p:spPr>
          <a:xfrm>
            <a:off x="9006840" y="3584448"/>
            <a:ext cx="2770632" cy="877824"/>
          </a:xfrm>
          <a:prstGeom prst="roundRect">
            <a:avLst>
              <a:gd name="adj" fmla="val 8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1" name="Text 82"/>
          <p:cNvSpPr txBox="1"/>
          <p:nvPr/>
        </p:nvSpPr>
        <p:spPr>
          <a:xfrm>
            <a:off x="9116568" y="3639312"/>
            <a:ext cx="2551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3"/>
                </a:solidFill>
                <a:latin typeface="Calibri"/>
              </a:rPr>
              <a:t>Why Random Forest</a:t>
            </a:r>
            <a:endParaRPr lang="en-US" sz="1200" dirty="0">
              <a:latin typeface="Calibri"/>
            </a:endParaRPr>
          </a:p>
        </p:txBody>
      </p:sp>
      <p:sp>
        <p:nvSpPr>
          <p:cNvPr id="92" name="Text 83"/>
          <p:cNvSpPr txBox="1"/>
          <p:nvPr/>
        </p:nvSpPr>
        <p:spPr>
          <a:xfrm>
            <a:off x="9116568" y="3895344"/>
            <a:ext cx="2551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F33"/>
                </a:solidFill>
                <a:latin typeface="Calibri"/>
              </a:rPr>
              <a:t>Test RMSE 13.4 vs LightGBM 14.5 and Ridge 16.2. Picked on engine-grouped CV, not on test.</a:t>
            </a:r>
            <a:endParaRPr lang="en-US" sz="1050" dirty="0">
              <a:latin typeface="Calibri"/>
            </a:endParaRPr>
          </a:p>
        </p:txBody>
      </p:sp>
      <p:sp>
        <p:nvSpPr>
          <p:cNvPr id="93" name="Card1"/>
          <p:cNvSpPr/>
          <p:nvPr/>
        </p:nvSpPr>
        <p:spPr>
          <a:xfrm>
            <a:off x="9006840" y="4553712"/>
            <a:ext cx="2770632" cy="877824"/>
          </a:xfrm>
          <a:prstGeom prst="roundRect">
            <a:avLst>
              <a:gd name="adj" fmla="val 8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4" name="Text 85"/>
          <p:cNvSpPr txBox="1"/>
          <p:nvPr/>
        </p:nvSpPr>
        <p:spPr>
          <a:xfrm>
            <a:off x="9116568" y="4608576"/>
            <a:ext cx="2551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3"/>
                </a:solidFill>
                <a:latin typeface="Calibri"/>
              </a:rPr>
              <a:t>Closed-loop MLOps (planned)</a:t>
            </a:r>
            <a:endParaRPr lang="en-US" sz="1200" dirty="0">
              <a:latin typeface="Calibri"/>
            </a:endParaRPr>
          </a:p>
        </p:txBody>
      </p:sp>
      <p:sp>
        <p:nvSpPr>
          <p:cNvPr id="95" name="Text 86"/>
          <p:cNvSpPr txBox="1"/>
          <p:nvPr/>
        </p:nvSpPr>
        <p:spPr>
          <a:xfrm>
            <a:off x="9116568" y="4864608"/>
            <a:ext cx="2551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F33"/>
                </a:solidFill>
                <a:latin typeface="Calibri"/>
              </a:rPr>
              <a:t>MLflow registry. Challenger replaces champion only if better. PSI/KS drift triggers retrain. Streamlit monitor.</a:t>
            </a:r>
            <a:endParaRPr lang="en-US" sz="1050" dirty="0">
              <a:latin typeface="Calibri"/>
            </a:endParaRPr>
          </a:p>
        </p:txBody>
      </p:sp>
      <p:sp>
        <p:nvSpPr>
          <p:cNvPr id="96" name="Card2"/>
          <p:cNvSpPr/>
          <p:nvPr/>
        </p:nvSpPr>
        <p:spPr>
          <a:xfrm>
            <a:off x="9006840" y="5522976"/>
            <a:ext cx="2770632" cy="877824"/>
          </a:xfrm>
          <a:prstGeom prst="roundRect">
            <a:avLst>
              <a:gd name="adj" fmla="val 8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7" name="Text 88"/>
          <p:cNvSpPr txBox="1"/>
          <p:nvPr/>
        </p:nvSpPr>
        <p:spPr>
          <a:xfrm>
            <a:off x="9116568" y="5577840"/>
            <a:ext cx="2551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3"/>
                </a:solidFill>
                <a:latin typeface="Calibri"/>
              </a:rPr>
              <a:t>Scale ladder</a:t>
            </a:r>
            <a:endParaRPr lang="en-US" sz="1200" dirty="0">
              <a:latin typeface="Calibri"/>
            </a:endParaRPr>
          </a:p>
        </p:txBody>
      </p:sp>
      <p:sp>
        <p:nvSpPr>
          <p:cNvPr id="98" name="Ladder0"/>
          <p:cNvSpPr/>
          <p:nvPr/>
        </p:nvSpPr>
        <p:spPr>
          <a:xfrm>
            <a:off x="9116568" y="5824728"/>
            <a:ext cx="585216" cy="219456"/>
          </a:xfrm>
          <a:prstGeom prst="roundRect">
            <a:avLst>
              <a:gd name="adj" fmla="val 20833"/>
            </a:avLst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99" name="Text 90"/>
          <p:cNvSpPr txBox="1"/>
          <p:nvPr/>
        </p:nvSpPr>
        <p:spPr>
          <a:xfrm>
            <a:off x="9116568" y="5824728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FD001</a:t>
            </a:r>
            <a:endParaRPr lang="en-US" sz="1000" dirty="0">
              <a:latin typeface="Calibri"/>
            </a:endParaRPr>
          </a:p>
        </p:txBody>
      </p:sp>
      <p:sp>
        <p:nvSpPr>
          <p:cNvPr id="100" name="Ladder1"/>
          <p:cNvSpPr/>
          <p:nvPr/>
        </p:nvSpPr>
        <p:spPr>
          <a:xfrm>
            <a:off x="9756648" y="5824728"/>
            <a:ext cx="58521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5B6B7F"/>
            </a:solidFill>
            <a:prstDash val="solid"/>
          </a:ln>
        </p:spPr>
      </p:sp>
      <p:sp>
        <p:nvSpPr>
          <p:cNvPr id="101" name="Text 92"/>
          <p:cNvSpPr txBox="1"/>
          <p:nvPr/>
        </p:nvSpPr>
        <p:spPr>
          <a:xfrm>
            <a:off x="9756648" y="5824728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7F"/>
                </a:solidFill>
                <a:latin typeface="Calibri"/>
              </a:rPr>
              <a:t>FD002</a:t>
            </a:r>
            <a:endParaRPr lang="en-US" sz="1000" dirty="0">
              <a:latin typeface="Calibri"/>
            </a:endParaRPr>
          </a:p>
        </p:txBody>
      </p:sp>
      <p:sp>
        <p:nvSpPr>
          <p:cNvPr id="102" name="Ladder2"/>
          <p:cNvSpPr/>
          <p:nvPr/>
        </p:nvSpPr>
        <p:spPr>
          <a:xfrm>
            <a:off x="10396728" y="5824728"/>
            <a:ext cx="58521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5B6B7F"/>
            </a:solidFill>
            <a:prstDash val="solid"/>
          </a:ln>
        </p:spPr>
      </p:sp>
      <p:sp>
        <p:nvSpPr>
          <p:cNvPr id="103" name="Text 94"/>
          <p:cNvSpPr txBox="1"/>
          <p:nvPr/>
        </p:nvSpPr>
        <p:spPr>
          <a:xfrm>
            <a:off x="10396728" y="5824728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7F"/>
                </a:solidFill>
                <a:latin typeface="Calibri"/>
              </a:rPr>
              <a:t>FD003</a:t>
            </a:r>
            <a:endParaRPr lang="en-US" sz="1000" dirty="0">
              <a:latin typeface="Calibri"/>
            </a:endParaRPr>
          </a:p>
        </p:txBody>
      </p:sp>
      <p:sp>
        <p:nvSpPr>
          <p:cNvPr id="104" name="Ladder3"/>
          <p:cNvSpPr/>
          <p:nvPr/>
        </p:nvSpPr>
        <p:spPr>
          <a:xfrm>
            <a:off x="11036808" y="5824728"/>
            <a:ext cx="58521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5B6B7F"/>
            </a:solidFill>
            <a:prstDash val="solid"/>
          </a:ln>
        </p:spPr>
      </p:sp>
      <p:sp>
        <p:nvSpPr>
          <p:cNvPr id="105" name="Text 96"/>
          <p:cNvSpPr txBox="1"/>
          <p:nvPr/>
        </p:nvSpPr>
        <p:spPr>
          <a:xfrm>
            <a:off x="11036808" y="5824728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7F"/>
                </a:solidFill>
                <a:latin typeface="Calibri"/>
              </a:rPr>
              <a:t>FD004</a:t>
            </a:r>
            <a:endParaRPr lang="en-US" sz="1000" dirty="0">
              <a:latin typeface="Calibri"/>
            </a:endParaRPr>
          </a:p>
        </p:txBody>
      </p:sp>
      <p:sp>
        <p:nvSpPr>
          <p:cNvPr id="106" name="Text 97"/>
          <p:cNvSpPr txBox="1"/>
          <p:nvPr/>
        </p:nvSpPr>
        <p:spPr>
          <a:xfrm>
            <a:off x="9116568" y="6062472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3"/>
                </a:solidFill>
                <a:latin typeface="Calibri"/>
              </a:rPr>
              <a:t>FD002/4: normalize per operating regime. FD003/4: two fault modes.</a:t>
            </a:r>
            <a:endParaRPr lang="en-US" sz="1050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764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23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Custom Design</vt:lpstr>
      <vt:lpstr>Team Details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Aaquib Jawaid</dc:creator>
  <cp:lastModifiedBy>Tanmay K</cp:lastModifiedBy>
  <cp:revision>8</cp:revision>
  <dcterms:created xsi:type="dcterms:W3CDTF">2024-10-25T17:59:13Z</dcterms:created>
  <dcterms:modified xsi:type="dcterms:W3CDTF">2026-10-22T07:41:27Z</dcterms:modified>
</cp:coreProperties>
</file>